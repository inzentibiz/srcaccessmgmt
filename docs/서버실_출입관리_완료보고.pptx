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60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6FF"/>
    <a:srgbClr val="222B45"/>
    <a:srgbClr val="3B6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67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151AD-0D66-4B19-8343-39009AB45A99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56C2A-28CD-4665-B856-629FDC2F8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6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56C2A-28CD-4665-B856-629FDC2F84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24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56C2A-28CD-4665-B856-629FDC2F84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231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56C2A-28CD-4665-B856-629FDC2F84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486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97480"/>
            <a:ext cx="12191695" cy="13716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40680" y="1325880"/>
            <a:ext cx="1325880" cy="132588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40680" y="1325880"/>
            <a:ext cx="132588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맑은 고딕"/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서버실 출입관리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91275"/>
            <a:ext cx="10360152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ko-KR" altLang="en-US" sz="2200" b="1" dirty="0" smtClean="0">
                <a:solidFill>
                  <a:srgbClr val="C8D2E6"/>
                </a:solidFill>
                <a:latin typeface="맑은 고딕"/>
              </a:rPr>
              <a:t>완료 보고서</a:t>
            </a:r>
            <a:endParaRPr sz="2200" b="1" dirty="0">
              <a:solidFill>
                <a:srgbClr val="C8D2E6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>
                <a:solidFill>
                  <a:srgbClr val="9AA6C4"/>
                </a:solidFill>
                <a:latin typeface="맑은 고딕"/>
              </a:rPr>
              <a:t>접속 주소  http://localhost:9090/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시스템 개요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Server Room Access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164592"/>
            <a:ext cx="914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 dirty="0">
                <a:solidFill>
                  <a:srgbClr val="556A9A"/>
                </a:solidFill>
                <a:latin typeface="맑은 고딕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566160" cy="176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566160" cy="8229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618488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75688"/>
            <a:ext cx="3163824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서버실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신청·기록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관리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비밀번호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안내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담당자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메일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알림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현황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실시간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모니터링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3566160" cy="176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566160" cy="82296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18488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사용자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3163824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—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화면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관리자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—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대시보드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단일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서버실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운영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기준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0" y="1077956"/>
            <a:ext cx="350215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02152" cy="82296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18488"/>
            <a:ext cx="3099816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F1F1D"/>
                </a:solidFill>
                <a:latin typeface="맑은 고딕"/>
              </a:rPr>
              <a:t>기술 스택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99816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Spring Boot 2.7.18 / Java 11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내장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Tomcat 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포트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9090)</a:t>
            </a: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PostgreSQL +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MyBatis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5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JSP + Vanilla JS</a:t>
            </a:r>
          </a:p>
        </p:txBody>
      </p:sp>
      <p:sp>
        <p:nvSpPr>
          <p:cNvPr id="22" name="Rectangle 5"/>
          <p:cNvSpPr/>
          <p:nvPr/>
        </p:nvSpPr>
        <p:spPr>
          <a:xfrm>
            <a:off x="548640" y="4689836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36140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📝 출입 신청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3340"/>
            <a:ext cx="3163824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B6A66"/>
                </a:solidFill>
                <a:latin typeface="맑은 고딕"/>
              </a:rPr>
              <a:t>성명·사번·연락처·사유 입력 후 신청, 신청 시각 자동 기록</a:t>
            </a:r>
          </a:p>
        </p:txBody>
      </p:sp>
      <p:sp>
        <p:nvSpPr>
          <p:cNvPr id="25" name="Rectangle 1"/>
          <p:cNvSpPr/>
          <p:nvPr/>
        </p:nvSpPr>
        <p:spPr>
          <a:xfrm>
            <a:off x="-1" y="3348497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"/>
          <p:cNvSpPr/>
          <p:nvPr/>
        </p:nvSpPr>
        <p:spPr>
          <a:xfrm>
            <a:off x="502920" y="363563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489332"/>
            <a:ext cx="10058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주요 기능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3489332"/>
            <a:ext cx="9144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>
                <a:solidFill>
                  <a:srgbClr val="556A9A"/>
                </a:solidFill>
                <a:latin typeface="맑은 고딕"/>
              </a:rPr>
              <a:t>02</a:t>
            </a:r>
          </a:p>
        </p:txBody>
      </p:sp>
      <p:sp>
        <p:nvSpPr>
          <p:cNvPr id="29" name="Rectangle 17"/>
          <p:cNvSpPr/>
          <p:nvPr/>
        </p:nvSpPr>
        <p:spPr>
          <a:xfrm>
            <a:off x="4343400" y="4698369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844673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📊 관리자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301873"/>
            <a:ext cx="3163824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 smtClean="0">
                <a:solidFill>
                  <a:srgbClr val="6B6A66"/>
                </a:solidFill>
                <a:latin typeface="맑은 고딕"/>
              </a:rPr>
              <a:t>현황</a:t>
            </a:r>
            <a:r>
              <a:rPr sz="1200" b="0" dirty="0" smtClean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·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기간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/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키워드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검색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·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실시간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갱신</a:t>
            </a:r>
            <a:endParaRPr sz="1200" b="0" dirty="0">
              <a:solidFill>
                <a:srgbClr val="6B6A66"/>
              </a:solidFill>
              <a:latin typeface="맑은 고딕"/>
            </a:endParaRPr>
          </a:p>
        </p:txBody>
      </p:sp>
      <p:sp>
        <p:nvSpPr>
          <p:cNvPr id="32" name="Rectangle 20"/>
          <p:cNvSpPr/>
          <p:nvPr/>
        </p:nvSpPr>
        <p:spPr>
          <a:xfrm>
            <a:off x="8037576" y="4698369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6" y="4844673"/>
            <a:ext cx="3163824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3B6FD4"/>
                </a:solidFill>
                <a:latin typeface="맑은 고딕"/>
              </a:rPr>
              <a:t>📧 메일 자동 발송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5" y="5301873"/>
            <a:ext cx="3233111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시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담당자에게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내역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메일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0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6A66"/>
                </a:solidFill>
                <a:latin typeface="맑은 고딕"/>
              </a:rPr>
              <a:t>전송</a:t>
            </a:r>
            <a:endParaRPr sz="1200" b="0" dirty="0">
              <a:solidFill>
                <a:srgbClr val="6B6A66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850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09728" cy="42062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7190"/>
            <a:ext cx="9601200" cy="6514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ko-KR" altLang="en-US" sz="2600" b="1" dirty="0" smtClean="0">
                <a:solidFill>
                  <a:srgbClr val="FFFFFF"/>
                </a:solidFill>
                <a:latin typeface="맑은 고딕"/>
              </a:rPr>
              <a:t>출입 신청</a:t>
            </a:r>
            <a:endParaRPr sz="2600" b="1" dirty="0" smtClean="0">
              <a:solidFill>
                <a:srgbClr val="FFFFFF"/>
              </a:solidFill>
              <a:latin typeface="맑은 고딕"/>
            </a:endParaRPr>
          </a:p>
          <a:p>
            <a:pPr algn="l"/>
            <a:r>
              <a:rPr sz="1300" b="0" dirty="0" err="1" smtClean="0">
                <a:solidFill>
                  <a:srgbClr val="B9C2D6"/>
                </a:solidFill>
                <a:latin typeface="맑은 고딕"/>
              </a:rPr>
              <a:t>성명</a:t>
            </a:r>
            <a:r>
              <a:rPr sz="1300" b="0" dirty="0" smtClean="0">
                <a:solidFill>
                  <a:srgbClr val="B9C2D6"/>
                </a:solidFill>
                <a:latin typeface="맑은 고딕"/>
              </a:rPr>
              <a:t> · </a:t>
            </a:r>
            <a:r>
              <a:rPr sz="1300" b="0" dirty="0" err="1" smtClean="0">
                <a:solidFill>
                  <a:srgbClr val="B9C2D6"/>
                </a:solidFill>
                <a:latin typeface="맑은 고딕"/>
              </a:rPr>
              <a:t>사번</a:t>
            </a:r>
            <a:r>
              <a:rPr sz="1300" b="0" dirty="0" smtClean="0">
                <a:solidFill>
                  <a:srgbClr val="B9C2D6"/>
                </a:solidFill>
                <a:latin typeface="맑은 고딕"/>
              </a:rPr>
              <a:t> · </a:t>
            </a:r>
            <a:r>
              <a:rPr sz="1300" b="0" dirty="0" err="1" smtClean="0">
                <a:solidFill>
                  <a:srgbClr val="B9C2D6"/>
                </a:solidFill>
                <a:latin typeface="맑은 고딕"/>
              </a:rPr>
              <a:t>연락처</a:t>
            </a:r>
            <a:r>
              <a:rPr sz="1300" b="0" dirty="0" smtClean="0">
                <a:solidFill>
                  <a:srgbClr val="B9C2D6"/>
                </a:solidFill>
                <a:latin typeface="맑은 고딕"/>
              </a:rPr>
              <a:t> · </a:t>
            </a:r>
            <a:r>
              <a:rPr sz="1300" b="0" dirty="0" err="1" smtClean="0">
                <a:solidFill>
                  <a:srgbClr val="B9C2D6"/>
                </a:solidFill>
                <a:latin typeface="맑은 고딕"/>
              </a:rPr>
              <a:t>사유</a:t>
            </a:r>
            <a:endParaRPr sz="1300" b="0" dirty="0">
              <a:solidFill>
                <a:srgbClr val="B9C2D6"/>
              </a:solidFill>
              <a:latin typeface="맑은 고딕"/>
            </a:endParaRPr>
          </a:p>
        </p:txBody>
      </p:sp>
      <p:pic>
        <p:nvPicPr>
          <p:cNvPr id="6" name="Picture 5" descr="guide_02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680" y="1234440"/>
            <a:ext cx="6502400" cy="4572000"/>
          </a:xfrm>
          <a:prstGeom prst="rect">
            <a:avLst/>
          </a:prstGeom>
          <a:ln w="22225">
            <a:solidFill>
              <a:srgbClr val="222B45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32680" y="1234440"/>
            <a:ext cx="6502400" cy="4572000"/>
          </a:xfrm>
          <a:prstGeom prst="rect">
            <a:avLst/>
          </a:prstGeom>
          <a:noFill/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59"/>
            <a:ext cx="3840480" cy="54012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54480"/>
            <a:ext cx="28346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 err="1">
                <a:solidFill>
                  <a:srgbClr val="1F1F1D"/>
                </a:solidFill>
                <a:latin typeface="맑은 고딕"/>
              </a:rPr>
              <a:t>정보를</a:t>
            </a:r>
            <a:r>
              <a:rPr sz="160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1F1D"/>
                </a:solidFill>
                <a:latin typeface="맑은 고딕"/>
              </a:rPr>
              <a:t>입력하세요</a:t>
            </a:r>
            <a:endParaRPr sz="1600" b="1" dirty="0">
              <a:solidFill>
                <a:srgbClr val="1F1F1D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520440" cy="1051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성명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사번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사유는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필수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입력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(*)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연락처는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숫자만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입력</a:t>
            </a: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/>
            </a:r>
            <a:br>
              <a:rPr lang="en-US" sz="1250" b="0" dirty="0" smtClean="0">
                <a:solidFill>
                  <a:srgbClr val="6B6A66"/>
                </a:solidFill>
                <a:latin typeface="맑은 고딕"/>
              </a:rPr>
            </a:b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시각은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입력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수정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불가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)</a:t>
            </a:r>
          </a:p>
          <a:p>
            <a:pPr algn="l">
              <a:spcAft>
                <a:spcPts val="900"/>
              </a:spcAft>
            </a:pP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입력이</a:t>
            </a: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끝나면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1" dirty="0" smtClean="0">
                <a:solidFill>
                  <a:srgbClr val="1F1F1D"/>
                </a:solidFill>
                <a:latin typeface="맑은 고딕"/>
              </a:rPr>
              <a:t>[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출입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신청하기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]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버튼을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누릅니다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.</a:t>
            </a:r>
          </a:p>
        </p:txBody>
      </p:sp>
      <p:sp>
        <p:nvSpPr>
          <p:cNvPr id="13" name="Oval 8"/>
          <p:cNvSpPr/>
          <p:nvPr/>
        </p:nvSpPr>
        <p:spPr>
          <a:xfrm>
            <a:off x="731520" y="3611890"/>
            <a:ext cx="457200" cy="45720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90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57610"/>
            <a:ext cx="28346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 err="1">
                <a:solidFill>
                  <a:srgbClr val="1F1F1D"/>
                </a:solidFill>
                <a:latin typeface="맑은 고딕"/>
              </a:rPr>
              <a:t>신청이</a:t>
            </a:r>
            <a:r>
              <a:rPr sz="160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F1F1D"/>
                </a:solidFill>
                <a:latin typeface="맑은 고딕"/>
              </a:rPr>
              <a:t>완료됩니다</a:t>
            </a:r>
            <a:endParaRPr sz="1600" b="1" dirty="0">
              <a:solidFill>
                <a:srgbClr val="1F1F1D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30"/>
            <a:ext cx="3520440" cy="20903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완료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안내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창이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뜨고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1" dirty="0">
                <a:solidFill>
                  <a:srgbClr val="1F1F1D"/>
                </a:solidFill>
                <a:latin typeface="맑은 고딕"/>
              </a:rPr>
              <a:t>  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서버실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출입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비밀번호가</a:t>
            </a:r>
            <a:r>
              <a:rPr sz="1250" b="1" dirty="0">
                <a:solidFill>
                  <a:srgbClr val="1F1F1D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1F1D"/>
                </a:solidFill>
                <a:latin typeface="맑은 고딕"/>
              </a:rPr>
              <a:t>표시됩니다</a:t>
            </a:r>
            <a:endParaRPr sz="1250" b="1" dirty="0">
              <a:solidFill>
                <a:srgbClr val="1F1F1D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표시된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비밀번호로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서버실에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[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확인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]을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누르면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창이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닫히고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  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아래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'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오늘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기록'에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추가</a:t>
            </a: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>,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lang="en-US" sz="1250" b="0" dirty="0" smtClean="0">
                <a:solidFill>
                  <a:srgbClr val="6B6A66"/>
                </a:solidFill>
                <a:latin typeface="맑은 고딕"/>
              </a:rPr>
              <a:t>  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동시에</a:t>
            </a: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담당자에게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신청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내역이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lang="ko-KR" altLang="en-US" sz="1250" b="1" dirty="0" smtClean="0">
                <a:solidFill>
                  <a:srgbClr val="3B6FD4"/>
                </a:solidFill>
                <a:latin typeface="맑은 고딕"/>
              </a:rPr>
              <a:t>담당자 에게 </a:t>
            </a:r>
            <a:r>
              <a:rPr sz="1250" b="1" dirty="0" err="1" smtClean="0">
                <a:solidFill>
                  <a:srgbClr val="3B6FD4"/>
                </a:solidFill>
                <a:latin typeface="맑은 고딕"/>
              </a:rPr>
              <a:t>메일로</a:t>
            </a:r>
            <a:r>
              <a:rPr sz="1250" b="1" dirty="0" smtClean="0">
                <a:solidFill>
                  <a:srgbClr val="3B6FD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B6FD4"/>
                </a:solidFill>
                <a:latin typeface="맑은 고딕"/>
              </a:rPr>
              <a:t>자동</a:t>
            </a:r>
            <a:r>
              <a:rPr sz="1250" b="1" dirty="0">
                <a:solidFill>
                  <a:srgbClr val="3B6FD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B6FD4"/>
                </a:solidFill>
                <a:latin typeface="맑은 고딕"/>
              </a:rPr>
              <a:t>발송됩니다</a:t>
            </a:r>
            <a:r>
              <a:rPr sz="1250" b="1" dirty="0">
                <a:solidFill>
                  <a:srgbClr val="3B6FD4"/>
                </a:solidFill>
                <a:latin typeface="맑은 고딕"/>
              </a:rPr>
              <a:t>. 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296731"/>
            <a:ext cx="914400" cy="51296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 dirty="0" smtClean="0">
                <a:solidFill>
                  <a:srgbClr val="556A9A"/>
                </a:solidFill>
                <a:latin typeface="맑은 고딕"/>
              </a:rPr>
              <a:t>0</a:t>
            </a:r>
            <a:r>
              <a:rPr lang="en-US" sz="3000" b="1" dirty="0" smtClean="0">
                <a:solidFill>
                  <a:srgbClr val="556A9A"/>
                </a:solidFill>
                <a:latin typeface="맑은 고딕"/>
              </a:rPr>
              <a:t>3</a:t>
            </a:r>
            <a:endParaRPr sz="3000" b="1" dirty="0">
              <a:solidFill>
                <a:srgbClr val="556A9A"/>
              </a:solidFill>
              <a:latin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520" y="2607436"/>
            <a:ext cx="2547231" cy="2100348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9341963" y="3770722"/>
            <a:ext cx="1168924" cy="21951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****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09728" cy="42062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"/>
            <a:ext cx="96012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관리자 대시보드</a:t>
            </a:r>
          </a:p>
          <a:p>
            <a:pPr algn="l"/>
            <a:r>
              <a:rPr sz="1300" b="0">
                <a:solidFill>
                  <a:srgbClr val="B9C2D6"/>
                </a:solidFill>
                <a:latin typeface="맑은 고딕"/>
              </a:rPr>
              <a:t>출입 현황 모니터링 (/admin)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128016"/>
            <a:ext cx="914400" cy="7498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80159"/>
            <a:ext cx="3840480" cy="5410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22345"/>
            <a:ext cx="3474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3B6FD4"/>
                </a:solidFill>
                <a:latin typeface="맑은 고딕"/>
              </a:rPr>
              <a:t>주요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9545"/>
            <a:ext cx="3520440" cy="11669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오늘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건수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· 총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 smtClean="0">
                <a:solidFill>
                  <a:srgbClr val="6B6A66"/>
                </a:solidFill>
                <a:latin typeface="맑은 고딕"/>
              </a:rPr>
              <a:t>인원</a:t>
            </a:r>
            <a:endParaRPr lang="en-US" sz="1250" b="0" dirty="0" smtClean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 smtClean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기간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/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성명·사번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검색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출입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기록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목록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(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연락처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포함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)</a:t>
            </a:r>
          </a:p>
          <a:p>
            <a:pPr algn="l">
              <a:spcAft>
                <a:spcPts val="900"/>
              </a:spcAft>
            </a:pPr>
            <a:r>
              <a:rPr sz="1250" b="0" dirty="0">
                <a:solidFill>
                  <a:srgbClr val="6B6A66"/>
                </a:solidFill>
                <a:latin typeface="맑은 고딕"/>
              </a:rPr>
              <a:t>• 30초마다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현황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자동</a:t>
            </a:r>
            <a:r>
              <a:rPr sz="1250" b="0" dirty="0">
                <a:solidFill>
                  <a:srgbClr val="6B6A66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6B6A66"/>
                </a:solidFill>
                <a:latin typeface="맑은 고딕"/>
              </a:rPr>
              <a:t>갱신</a:t>
            </a:r>
            <a:endParaRPr sz="1250" b="0" dirty="0">
              <a:solidFill>
                <a:srgbClr val="6B6A66"/>
              </a:solidFill>
              <a:latin typeface="맑은 고딕"/>
            </a:endParaRPr>
          </a:p>
        </p:txBody>
      </p:sp>
      <p:pic>
        <p:nvPicPr>
          <p:cNvPr id="11" name="Picture 10" descr="guide_04_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160" y="1280160"/>
            <a:ext cx="4573439" cy="5166360"/>
          </a:xfrm>
          <a:prstGeom prst="rect">
            <a:avLst/>
          </a:prstGeom>
          <a:ln w="22225">
            <a:solidFill>
              <a:srgbClr val="222B45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5897160" y="1280160"/>
            <a:ext cx="4573439" cy="5166360"/>
          </a:xfrm>
          <a:prstGeom prst="rect">
            <a:avLst/>
          </a:prstGeom>
          <a:noFill/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11535" y="296731"/>
            <a:ext cx="914400" cy="51296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 dirty="0" smtClean="0">
                <a:solidFill>
                  <a:srgbClr val="556A9A"/>
                </a:solidFill>
                <a:latin typeface="맑은 고딕"/>
              </a:rPr>
              <a:t>0</a:t>
            </a:r>
            <a:r>
              <a:rPr lang="en-US" sz="3000" b="1" dirty="0" smtClean="0">
                <a:solidFill>
                  <a:srgbClr val="556A9A"/>
                </a:solidFill>
                <a:latin typeface="맑은 고딕"/>
              </a:rPr>
              <a:t>4</a:t>
            </a:r>
            <a:endParaRPr sz="3000" b="1" dirty="0">
              <a:solidFill>
                <a:srgbClr val="556A9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5"/>
          <p:cNvSpPr/>
          <p:nvPr/>
        </p:nvSpPr>
        <p:spPr>
          <a:xfrm>
            <a:off x="502920" y="1280160"/>
            <a:ext cx="10950646" cy="11192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12120"/>
            <a:ext cx="1005840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ko-KR" altLang="en-US" sz="2800" b="1" dirty="0" smtClean="0">
                <a:solidFill>
                  <a:srgbClr val="FFFFFF"/>
                </a:solidFill>
                <a:latin typeface="맑은 고딕"/>
              </a:rPr>
              <a:t>개발 완료 요약</a:t>
            </a:r>
            <a:endParaRPr sz="1300" b="0" dirty="0">
              <a:solidFill>
                <a:srgbClr val="B9C2D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11535" y="296731"/>
            <a:ext cx="914400" cy="51296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 dirty="0" smtClean="0">
                <a:solidFill>
                  <a:srgbClr val="556A9A"/>
                </a:solidFill>
                <a:latin typeface="맑은 고딕"/>
              </a:rPr>
              <a:t>0</a:t>
            </a:r>
            <a:r>
              <a:rPr lang="en-US" sz="3000" b="1" dirty="0" smtClean="0">
                <a:solidFill>
                  <a:srgbClr val="556A9A"/>
                </a:solidFill>
                <a:latin typeface="맑은 고딕"/>
              </a:rPr>
              <a:t>5</a:t>
            </a:r>
            <a:endParaRPr sz="3000" b="1" dirty="0">
              <a:solidFill>
                <a:srgbClr val="556A9A"/>
              </a:solidFill>
              <a:latin typeface="맑은 고딕"/>
            </a:endParaRPr>
          </a:p>
        </p:txBody>
      </p:sp>
      <p:sp>
        <p:nvSpPr>
          <p:cNvPr id="22" name="Rectangle 5"/>
          <p:cNvSpPr/>
          <p:nvPr/>
        </p:nvSpPr>
        <p:spPr>
          <a:xfrm>
            <a:off x="548640" y="4689836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36140"/>
            <a:ext cx="3163824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dirty="0">
                <a:solidFill>
                  <a:srgbClr val="3B6FD4"/>
                </a:solidFill>
                <a:latin typeface="맑은 고딕"/>
              </a:rPr>
              <a:t>📝 </a:t>
            </a:r>
            <a:r>
              <a:rPr lang="ko-KR" altLang="en-US" sz="1500" b="1" dirty="0" smtClean="0">
                <a:solidFill>
                  <a:srgbClr val="3B6FD4"/>
                </a:solidFill>
                <a:latin typeface="맑은 고딕"/>
              </a:rPr>
              <a:t>그룹웨어 연동</a:t>
            </a:r>
            <a:endParaRPr sz="1500" b="1" dirty="0">
              <a:solidFill>
                <a:srgbClr val="3B6FD4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5293340"/>
            <a:ext cx="3163824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ko-KR" altLang="en-US" sz="1200" b="0" dirty="0" err="1" smtClean="0">
                <a:solidFill>
                  <a:srgbClr val="6B6A66"/>
                </a:solidFill>
                <a:latin typeface="맑은 고딕"/>
              </a:rPr>
              <a:t>바로가기</a:t>
            </a:r>
            <a:r>
              <a:rPr lang="ko-KR" altLang="en-US" sz="1200" b="0" dirty="0" smtClean="0">
                <a:solidFill>
                  <a:srgbClr val="6B6A66"/>
                </a:solidFill>
                <a:latin typeface="맑은 고딕"/>
              </a:rPr>
              <a:t> 버튼 </a:t>
            </a:r>
            <a:r>
              <a:rPr lang="ko-KR" altLang="en-US" sz="1200" b="0" dirty="0" err="1" smtClean="0">
                <a:solidFill>
                  <a:srgbClr val="6B6A66"/>
                </a:solidFill>
                <a:latin typeface="맑은 고딕"/>
              </a:rPr>
              <a:t>으로</a:t>
            </a:r>
            <a:r>
              <a:rPr lang="ko-KR" altLang="en-US" sz="1200" b="0" dirty="0" smtClean="0">
                <a:solidFill>
                  <a:srgbClr val="6B6A66"/>
                </a:solidFill>
                <a:latin typeface="맑은 고딕"/>
              </a:rPr>
              <a:t> 서버실 출입관리 시스템 진입</a:t>
            </a:r>
            <a:endParaRPr sz="1200" b="0" dirty="0">
              <a:solidFill>
                <a:srgbClr val="6B6A66"/>
              </a:solidFill>
              <a:latin typeface="맑은 고딕"/>
            </a:endParaRPr>
          </a:p>
        </p:txBody>
      </p:sp>
      <p:sp>
        <p:nvSpPr>
          <p:cNvPr id="25" name="Rectangle 1"/>
          <p:cNvSpPr/>
          <p:nvPr/>
        </p:nvSpPr>
        <p:spPr>
          <a:xfrm>
            <a:off x="-1" y="3348497"/>
            <a:ext cx="12191695" cy="1051560"/>
          </a:xfrm>
          <a:prstGeom prst="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"/>
          <p:cNvSpPr/>
          <p:nvPr/>
        </p:nvSpPr>
        <p:spPr>
          <a:xfrm>
            <a:off x="502920" y="3635636"/>
            <a:ext cx="109728" cy="4572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636860"/>
            <a:ext cx="1005840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ko-KR" altLang="en-US" sz="2800" b="1" dirty="0" smtClean="0">
                <a:solidFill>
                  <a:srgbClr val="FFFFFF"/>
                </a:solidFill>
                <a:latin typeface="맑은 고딕"/>
              </a:rPr>
              <a:t>확장 계획</a:t>
            </a:r>
            <a:endParaRPr sz="1300" b="0" dirty="0">
              <a:solidFill>
                <a:srgbClr val="B9C2D6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11535" y="3621471"/>
            <a:ext cx="914400" cy="51296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3000" b="1" dirty="0" smtClean="0">
                <a:solidFill>
                  <a:srgbClr val="556A9A"/>
                </a:solidFill>
                <a:latin typeface="맑은 고딕"/>
              </a:rPr>
              <a:t>0</a:t>
            </a:r>
            <a:r>
              <a:rPr lang="en-US" sz="3000" b="1" dirty="0" smtClean="0">
                <a:solidFill>
                  <a:srgbClr val="556A9A"/>
                </a:solidFill>
                <a:latin typeface="맑은 고딕"/>
              </a:rPr>
              <a:t>6</a:t>
            </a:r>
            <a:endParaRPr sz="3000" b="1" dirty="0">
              <a:solidFill>
                <a:srgbClr val="556A9A"/>
              </a:solidFill>
              <a:latin typeface="맑은 고딕"/>
            </a:endParaRPr>
          </a:p>
        </p:txBody>
      </p:sp>
      <p:sp>
        <p:nvSpPr>
          <p:cNvPr id="29" name="Rectangle 17"/>
          <p:cNvSpPr/>
          <p:nvPr/>
        </p:nvSpPr>
        <p:spPr>
          <a:xfrm>
            <a:off x="4343400" y="4698369"/>
            <a:ext cx="352958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844673"/>
            <a:ext cx="3163824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 dirty="0">
                <a:solidFill>
                  <a:srgbClr val="3B6FD4"/>
                </a:solidFill>
                <a:latin typeface="맑은 고딕"/>
              </a:rPr>
              <a:t>📊 </a:t>
            </a:r>
            <a:r>
              <a:rPr lang="ko-KR" altLang="en-US" sz="1500" b="1" dirty="0" smtClean="0">
                <a:solidFill>
                  <a:srgbClr val="3B6FD4"/>
                </a:solidFill>
                <a:latin typeface="맑은 고딕"/>
              </a:rPr>
              <a:t>사용자</a:t>
            </a:r>
            <a:r>
              <a:rPr sz="1500" b="1" dirty="0" smtClean="0">
                <a:solidFill>
                  <a:srgbClr val="3B6FD4"/>
                </a:solidFill>
                <a:latin typeface="맑은 고딕"/>
              </a:rPr>
              <a:t> </a:t>
            </a:r>
            <a:r>
              <a:rPr lang="ko-KR" altLang="en-US" sz="1500" b="1" dirty="0" smtClean="0">
                <a:solidFill>
                  <a:srgbClr val="3B6FD4"/>
                </a:solidFill>
                <a:latin typeface="맑은 고딕"/>
              </a:rPr>
              <a:t>분리</a:t>
            </a:r>
            <a:endParaRPr sz="1500" b="1" dirty="0">
              <a:solidFill>
                <a:srgbClr val="3B6FD4"/>
              </a:solidFill>
              <a:latin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80" y="5301873"/>
            <a:ext cx="3163824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ko-KR" altLang="en-US" sz="1200" b="0" dirty="0" smtClean="0">
                <a:solidFill>
                  <a:srgbClr val="6B6A66"/>
                </a:solidFill>
                <a:latin typeface="맑은 고딕"/>
              </a:rPr>
              <a:t>일반 사용자</a:t>
            </a:r>
            <a:r>
              <a:rPr lang="en-US" altLang="ko-KR" sz="1200" b="0" dirty="0" smtClean="0">
                <a:solidFill>
                  <a:srgbClr val="6B6A66"/>
                </a:solidFill>
                <a:latin typeface="맑은 고딕"/>
              </a:rPr>
              <a:t>: </a:t>
            </a:r>
            <a:r>
              <a:rPr lang="ko-KR" altLang="en-US" sz="1200" b="0" dirty="0" smtClean="0">
                <a:solidFill>
                  <a:srgbClr val="6B6A66"/>
                </a:solidFill>
                <a:latin typeface="맑은 고딕"/>
              </a:rPr>
              <a:t>서버실 출입관리 페이지</a:t>
            </a:r>
            <a:endParaRPr lang="en-US" altLang="ko-KR" sz="1200" b="0" dirty="0" smtClean="0">
              <a:solidFill>
                <a:srgbClr val="6B6A66"/>
              </a:solidFill>
              <a:latin typeface="맑은 고딕"/>
            </a:endParaRPr>
          </a:p>
          <a:p>
            <a:pPr algn="l"/>
            <a:endParaRPr lang="en-US" sz="1200" dirty="0">
              <a:solidFill>
                <a:srgbClr val="6B6A66"/>
              </a:solidFill>
              <a:latin typeface="맑은 고딕"/>
            </a:endParaRPr>
          </a:p>
          <a:p>
            <a:r>
              <a:rPr lang="ko-KR" altLang="en-US" sz="1200" b="0" dirty="0" smtClean="0">
                <a:solidFill>
                  <a:srgbClr val="6B6A66"/>
                </a:solidFill>
                <a:latin typeface="맑은 고딕"/>
              </a:rPr>
              <a:t>관리자</a:t>
            </a:r>
            <a:r>
              <a:rPr lang="en-US" altLang="ko-KR" sz="1200" b="0" dirty="0" smtClean="0">
                <a:solidFill>
                  <a:srgbClr val="6B6A66"/>
                </a:solidFill>
                <a:latin typeface="맑은 고딕"/>
              </a:rPr>
              <a:t>: </a:t>
            </a:r>
            <a:r>
              <a:rPr lang="ko-KR" altLang="en-US" sz="1200" dirty="0">
                <a:solidFill>
                  <a:srgbClr val="6B6A66"/>
                </a:solidFill>
                <a:latin typeface="맑은 고딕"/>
              </a:rPr>
              <a:t>서버실 출입관리 </a:t>
            </a:r>
            <a:r>
              <a:rPr lang="ko-KR" altLang="en-US" sz="1200" dirty="0" smtClean="0">
                <a:solidFill>
                  <a:srgbClr val="6B6A66"/>
                </a:solidFill>
                <a:latin typeface="맑은 고딕"/>
              </a:rPr>
              <a:t>및 </a:t>
            </a:r>
            <a:r>
              <a:rPr lang="ko-KR" altLang="en-US" sz="1200" dirty="0" err="1" smtClean="0">
                <a:solidFill>
                  <a:srgbClr val="6B6A66"/>
                </a:solidFill>
                <a:latin typeface="맑은 고딕"/>
              </a:rPr>
              <a:t>대시보드</a:t>
            </a:r>
            <a:r>
              <a:rPr lang="ko-KR" altLang="en-US" sz="1200" dirty="0" smtClean="0">
                <a:solidFill>
                  <a:srgbClr val="6B6A66"/>
                </a:solidFill>
                <a:latin typeface="맑은 고딕"/>
              </a:rPr>
              <a:t> 페이지</a:t>
            </a:r>
            <a:endParaRPr lang="en-US" altLang="ko-KR" sz="1200" dirty="0">
              <a:solidFill>
                <a:srgbClr val="6B6A66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1502" y="1251503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0142" y="1361898"/>
            <a:ext cx="7955279" cy="28212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0">
                <a:latin typeface="맑은 고딕"/>
              </a:rPr>
              <a:t>출입 신청 → 등록 → 비밀번호 안내 → 메일 발송 전 과정 구현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02" y="1896483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>
                <a:solidFill>
                  <a:srgbClr val="6FD89A"/>
                </a:solidFill>
                <a:latin typeface="맑은 고딕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0142" y="2006878"/>
            <a:ext cx="7955279" cy="28212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0" dirty="0" err="1">
                <a:latin typeface="맑은 고딕"/>
              </a:rPr>
              <a:t>담당자</a:t>
            </a:r>
            <a:r>
              <a:rPr sz="1500" b="0" dirty="0">
                <a:latin typeface="맑은 고딕"/>
              </a:rPr>
              <a:t>(wayne9044@inzent.com) </a:t>
            </a:r>
            <a:r>
              <a:rPr sz="1500" b="0" dirty="0" err="1">
                <a:latin typeface="맑은 고딕"/>
              </a:rPr>
              <a:t>메일</a:t>
            </a:r>
            <a:r>
              <a:rPr sz="1500" b="0" dirty="0">
                <a:latin typeface="맑은 고딕"/>
              </a:rPr>
              <a:t> </a:t>
            </a:r>
            <a:r>
              <a:rPr sz="1500" b="0" dirty="0" err="1">
                <a:latin typeface="맑은 고딕"/>
              </a:rPr>
              <a:t>자동</a:t>
            </a:r>
            <a:r>
              <a:rPr sz="1500" b="0" dirty="0">
                <a:latin typeface="맑은 고딕"/>
              </a:rPr>
              <a:t> </a:t>
            </a:r>
            <a:r>
              <a:rPr sz="1500" b="0" dirty="0" err="1">
                <a:latin typeface="맑은 고딕"/>
              </a:rPr>
              <a:t>알림</a:t>
            </a:r>
            <a:r>
              <a:rPr sz="1500" b="0" dirty="0">
                <a:latin typeface="맑은 고딕"/>
              </a:rPr>
              <a:t> (</a:t>
            </a:r>
            <a:r>
              <a:rPr sz="1500" b="0" dirty="0" err="1">
                <a:latin typeface="맑은 고딕"/>
              </a:rPr>
              <a:t>신청시각</a:t>
            </a:r>
            <a:r>
              <a:rPr sz="1500" b="0" dirty="0">
                <a:latin typeface="맑은 고딕"/>
              </a:rPr>
              <a:t> </a:t>
            </a:r>
            <a:r>
              <a:rPr sz="1500" b="0" dirty="0" err="1">
                <a:latin typeface="맑은 고딕"/>
              </a:rPr>
              <a:t>포함</a:t>
            </a:r>
            <a:r>
              <a:rPr sz="1500" b="0" dirty="0">
                <a:latin typeface="맑은 고딕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376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313</Words>
  <Application>Microsoft Office PowerPoint</Application>
  <PresentationFormat>와이드스크린</PresentationFormat>
  <Paragraphs>73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장석원</dc:creator>
  <cp:keywords/>
  <dc:description>generated using python-pptx</dc:description>
  <cp:lastModifiedBy>장석원</cp:lastModifiedBy>
  <cp:revision>8</cp:revision>
  <dcterms:created xsi:type="dcterms:W3CDTF">2013-01-27T09:14:16Z</dcterms:created>
  <dcterms:modified xsi:type="dcterms:W3CDTF">2026-06-24T04:36:32Z</dcterms:modified>
  <cp:category/>
</cp:coreProperties>
</file>
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40680" y="1417320"/>
            <a:ext cx="1325880" cy="132588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40680" y="1417320"/>
            <a:ext cx="1325880" cy="1325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60152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서버실 출입관리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60152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0">
                <a:solidFill>
                  <a:srgbClr val="C8D2E6"/>
                </a:solidFill>
                <a:latin typeface="맑은 고딕"/>
              </a:rPr>
              <a:t>개발 완료 보고 — 출입 신청 · 암호화 · 메일 알림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8A96B4"/>
                </a:solidFill>
                <a:latin typeface="맑은 고딕"/>
              </a:rPr>
              <a:t>2026-06-24   |   Spring Boot 2.7 · PostgreSQL · MyBatis · JSP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시스템 개요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Server Room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566160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18488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31638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서버실 출입 신청·기록 관리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출입 비밀번호 안내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담당자 메일 자동 알림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출입 현황 실시간 모니터링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566160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18488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사용자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31638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신청자 — 출입 신청 화면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관리자 — 대시보드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단일 서버실 운영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35021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502152" cy="82296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18488"/>
            <a:ext cx="30998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기술 스택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0998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Spring Boot 2.7.18 / Java 11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내장 Tomcat (포트 9090)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PostgreSQL + MyBatis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JSP + Vanilla 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109087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10908792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904488"/>
            <a:ext cx="1050645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핵심 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361688"/>
            <a:ext cx="10506456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출입 신청부터 담당자 알림까지 한 번에 처리되는 자동화된 흐름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개인정보(연락처)는 DB에 암호화 저장하여 보안 강화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관리자는 별도 조작 없이 대시보드에서 복호화된 정보로 출입 현황 확인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메일 발송이 실패하더라도 출입 신청 자체는 정상 처리(안정성 보장)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주요 기능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17904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📝 출입 신청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3163824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6A66"/>
                </a:solidFill>
                <a:latin typeface="맑은 고딕"/>
              </a:rPr>
              <a:t>성명·사번·연락처·사유 입력 후 신청, 신청 시각 자동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371600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517904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🔑 비밀번호 안내 모달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975104"/>
            <a:ext cx="3163824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6A66"/>
                </a:solidFill>
                <a:latin typeface="맑은 고딕"/>
              </a:rPr>
              <a:t>신청 완료 시 출입 비밀번호(7325*)를 팝업으로 안내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1371600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17904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📞 연락처 자동 변환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75104"/>
            <a:ext cx="3163824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6A66"/>
                </a:solidFill>
                <a:latin typeface="맑은 고딕"/>
              </a:rPr>
              <a:t>입력 시 010-1234-5678 형식으로 하이픈 자동 삽입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18104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🔒 연락처 암호화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3163824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6A66"/>
                </a:solidFill>
                <a:latin typeface="맑은 고딕"/>
              </a:rPr>
              <a:t>AES-256-GCM으로 DB 암호화, 대시보드에서 복호화 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2971800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118104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📊 관리자 대시보드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575304"/>
            <a:ext cx="3163824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6A66"/>
                </a:solidFill>
                <a:latin typeface="맑은 고딕"/>
              </a:rPr>
              <a:t>출입 현황 KPI · 기간/키워드 검색 · 실시간 갱신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2" y="2971800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3118104"/>
            <a:ext cx="316382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📧 메일 자동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575304"/>
            <a:ext cx="3163824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6A66"/>
                </a:solidFill>
                <a:latin typeface="맑은 고딕"/>
              </a:rPr>
              <a:t>신청 시 담당자에게 신청 내역 메일 자동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출입 신청 프로세스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471" y="2286000"/>
            <a:ext cx="16276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1471" y="2286000"/>
            <a:ext cx="1627632" cy="41148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2304288"/>
            <a:ext cx="162763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1. 정보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2788920"/>
            <a:ext cx="1627632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1F1D"/>
                </a:solidFill>
                <a:latin typeface="맑은 고딕"/>
              </a:rPr>
              <a:t>성명·사번
연락처·사유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10815" y="2953512"/>
            <a:ext cx="201168" cy="219456"/>
          </a:xfrm>
          <a:prstGeom prst="rightArrow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93695" y="2286000"/>
            <a:ext cx="16276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3695" y="2286000"/>
            <a:ext cx="1627632" cy="41148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3695" y="2304288"/>
            <a:ext cx="162763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2. 신청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3695" y="2788920"/>
            <a:ext cx="1627632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1F1D"/>
                </a:solidFill>
                <a:latin typeface="맑은 고딕"/>
              </a:rPr>
              <a:t>POST
/api/access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03039" y="2953512"/>
            <a:ext cx="201168" cy="219456"/>
          </a:xfrm>
          <a:prstGeom prst="rightArrow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5919" y="2286000"/>
            <a:ext cx="16276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5919" y="2286000"/>
            <a:ext cx="1627632" cy="4114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5919" y="2304288"/>
            <a:ext cx="162763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3. 연락처 암호화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5919" y="2788920"/>
            <a:ext cx="1627632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1F1D"/>
                </a:solidFill>
                <a:latin typeface="맑은 고딕"/>
              </a:rPr>
              <a:t>AES-256-GCM
enc:Base64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95263" y="2953512"/>
            <a:ext cx="201168" cy="219456"/>
          </a:xfrm>
          <a:prstGeom prst="righ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8143" y="2286000"/>
            <a:ext cx="16276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8143" y="2286000"/>
            <a:ext cx="1627632" cy="41148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8143" y="2304288"/>
            <a:ext cx="162763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4. DB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8143" y="2788920"/>
            <a:ext cx="1627632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1F1D"/>
                </a:solidFill>
                <a:latin typeface="맑은 고딕"/>
              </a:rPr>
              <a:t>access_log
(PostgreSQL)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87487" y="2953512"/>
            <a:ext cx="201168" cy="219456"/>
          </a:xfrm>
          <a:prstGeom prst="rightArrow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70367" y="2286000"/>
            <a:ext cx="16276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70367" y="2286000"/>
            <a:ext cx="1627632" cy="41148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0367" y="2304288"/>
            <a:ext cx="162763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5. 비밀번호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0367" y="2788920"/>
            <a:ext cx="1627632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1F1D"/>
                </a:solidFill>
                <a:latin typeface="맑은 고딕"/>
              </a:rPr>
              <a:t>모달 표시
7325*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79711" y="2953512"/>
            <a:ext cx="201168" cy="219456"/>
          </a:xfrm>
          <a:prstGeom prst="rightArrow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62591" y="2286000"/>
            <a:ext cx="16276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62591" y="2286000"/>
            <a:ext cx="1627632" cy="411480"/>
          </a:xfrm>
          <a:prstGeom prst="roundRect">
            <a:avLst/>
          </a:prstGeom>
          <a:solidFill>
            <a:srgbClr val="C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2591" y="2304288"/>
            <a:ext cx="162763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6. 메일 발송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2591" y="2788920"/>
            <a:ext cx="1627632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1F1D"/>
                </a:solidFill>
                <a:latin typeface="맑은 고딕"/>
              </a:rPr>
              <a:t>담당자 알림
wayne9044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297680"/>
            <a:ext cx="10908792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6A66"/>
                </a:solidFill>
                <a:latin typeface="맑은 고딕"/>
              </a:rPr>
              <a:t>※ 메일 발송이 실패해도 출입 신청은 정상 등록됩니다 (실패는 로그로만 기록).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6A66"/>
                </a:solidFill>
                <a:latin typeface="맑은 고딕"/>
              </a:rPr>
              <a:t>※ 메일 본문에는 평문 연락처가 표시되지만, DB에는 암호문으로 저장됩니다.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연락처 보안 — 암호화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AES-256-GCM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18488"/>
            <a:ext cx="49469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암호화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4946904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알고리즘: AES-256-GCM (인증 암호화)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저장 형식: enc: + Base64(IV ‖ 암호문+태그)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키: 시크릿을 SHA-256 → 32바이트 키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키 주입: 환경변수 CRYPTO_SECRET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3766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376672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18488"/>
            <a:ext cx="497433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처리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75688"/>
            <a:ext cx="497433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저장 시(신청) → 연락처 암호화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조회 시(대시보드) → 자동 복호화 표시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기존 평문 데이터 호환 (enc: 없으면 원본)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복호화 불가 시 원본 반환(화면 깨짐 방지)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0908792" cy="2103120"/>
          </a:xfrm>
          <a:prstGeom prst="rect">
            <a:avLst/>
          </a:prstGeom>
          <a:solidFill>
            <a:srgbClr val="1E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9AB0D0"/>
                </a:solidFill>
                <a:latin typeface="맑은 고딕"/>
              </a:rPr>
              <a:t>저장 예시 (DB access_log.phone)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D8E0F0"/>
                </a:solidFill>
                <a:latin typeface="맑은 고딕"/>
              </a:rPr>
              <a:t>입력:  010-1234-5678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86E3A6"/>
                </a:solidFill>
                <a:latin typeface="맑은 고딕"/>
              </a:rPr>
              <a:t>저장:  enc:vowmyfzj84HkFq3F5QyGD38+Xo0y+vtNbrKfBPzXa9bA2m+KNq5tEbg=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D8E0F0"/>
                </a:solidFill>
                <a:latin typeface="맑은 고딕"/>
              </a:rPr>
              <a:t>대시보드 표시:  010-1234-5678 (복호화)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출입 신청 메일 알림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Mail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18488"/>
            <a:ext cx="49469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발송 사양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4946904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트리거: 출입 신청하기 클릭 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수신자: wayne9044@inzent.com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제목: [서버실 출입관리 시스템] 서버실 출입 신청이 있습니다.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본문: 성명·사번·연락처·사유·신청시각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3766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376672" cy="82296"/>
          </a:xfrm>
          <a:prstGeom prst="rect">
            <a:avLst/>
          </a:prstGeom>
          <a:solidFill>
            <a:srgbClr val="C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18488"/>
            <a:ext cx="497433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연동 방식 (iBiz 참고)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75688"/>
            <a:ext cx="4974336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JavaMailSender + MimeMessageHelper (HTML)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SMTP: smtp.inzent.com:25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사내 화이트리스트 IP 무인증 릴레이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발송 실패해도 신청은 정상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109087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1F1F1D"/>
                </a:solidFill>
                <a:latin typeface="맑은 고딕"/>
              </a:rPr>
              <a:t>📧 발송 메일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F1F1D"/>
                </a:solidFill>
                <a:latin typeface="맑은 고딕"/>
              </a:rPr>
              <a:t>제목: [서버실 출입관리 시스템] 서버실 출입 신청이 있습니다.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6A66"/>
                </a:solidFill>
                <a:latin typeface="맑은 고딕"/>
              </a:rPr>
              <a:t>성명: 홍길동   |   사번: 20210815   |   연락처: 010-1234-5678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6A66"/>
                </a:solidFill>
                <a:latin typeface="맑은 고딕"/>
              </a:rPr>
              <a:t>사유: 서버 점검   |   신청시각: 2026-06-24 10:12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기술 아키텍처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Layered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10515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46304" cy="96012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310896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3B6FD4"/>
                </a:solidFill>
                <a:latin typeface="맑은 고딕"/>
              </a:rPr>
              <a:t>화면 (View)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6858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6B6A66"/>
                </a:solidFill>
                <a:latin typeface="맑은 고딕"/>
              </a:rPr>
              <a:t>user.jsp · admin.jsp / user.js · admin.js · clock.js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10515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146304" cy="96012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310896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222B45"/>
                </a:solidFill>
                <a:latin typeface="맑은 고딕"/>
              </a:rPr>
              <a:t>컨트롤러 (Controller)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97480"/>
            <a:ext cx="6858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6B6A66"/>
                </a:solidFill>
                <a:latin typeface="맑은 고딕"/>
              </a:rPr>
              <a:t>PageController(화면) · AccessApiController(REST) · AdminAccessInterceptor(접근 제어)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40480"/>
            <a:ext cx="10515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840480"/>
            <a:ext cx="146304" cy="9601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310896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맑은 고딕"/>
              </a:rPr>
              <a:t>서비스 (Service)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840480"/>
            <a:ext cx="6858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6B6A66"/>
                </a:solidFill>
                <a:latin typeface="맑은 고딕"/>
              </a:rPr>
              <a:t>AccessLogService · CryptoService(암호화) · MailService(메일)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83480"/>
            <a:ext cx="10515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983480"/>
            <a:ext cx="146304" cy="960120"/>
          </a:xfrm>
          <a:prstGeom prst="rect">
            <a:avLst/>
          </a:prstGeom>
          <a:solidFill>
            <a:srgbClr val="7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310896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7A5A2B"/>
                </a:solidFill>
                <a:latin typeface="맑은 고딕"/>
              </a:rPr>
              <a:t>데이터 (Data)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80"/>
            <a:ext cx="68580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6B6A66"/>
                </a:solidFill>
                <a:latin typeface="맑은 고딕"/>
              </a:rPr>
              <a:t>AccessLogMapper · ConfigMapper(MyBatis) → PostgreSQL access_log · sram_config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관리자 운영 기능 (추가)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비밀번호 변경 · 공지 · 설정 패널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349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18488"/>
            <a:ext cx="49469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출입 비밀번호 변경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494690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관리자 화면에서 비밀번호 변경 (DB 저장)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재기동해도 유지 (sram_config)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마지막 변경일 · 경과일수 표시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변경 즉시 신청 모달에 반영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3766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376672" cy="82296"/>
          </a:xfrm>
          <a:prstGeom prst="rect">
            <a:avLst/>
          </a:prstGeom>
          <a:solidFill>
            <a:srgbClr val="C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18488"/>
            <a:ext cx="497433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공지사항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75688"/>
            <a:ext cx="497433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관리자 작성 / 저장 / 삭제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사용자 화면 상단 배너로 표시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공지 없으면 배너 자동 숨김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출력 XSS 방어 (c:out)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5349240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904488"/>
            <a:ext cx="49469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설정 접기 패널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61688"/>
            <a:ext cx="4946904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비밀번호·공지를 ⚙ 설정으로 통합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기본 접힘 → 대시보드 먼저 노출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필요할 때만 펼쳐서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03320"/>
            <a:ext cx="53766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03320"/>
            <a:ext cx="5376672" cy="82296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904488"/>
            <a:ext cx="497433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관리자 접근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361688"/>
            <a:ext cx="497433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대시보드 · 관리 API 사번 인가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허용 사번만 통과 (미허가 403)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추후 iBiz SSO 연동 예정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sram_config 신규 · clean compile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77240"/>
            <a:ext cx="10360152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개발 완료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1828800"/>
            <a:ext cx="9262872" cy="36576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2148840"/>
            <a:ext cx="5486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148840"/>
            <a:ext cx="7955279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출입 신청 → 등록 → 비밀번호 안내 → 메일 발송 전 과정 구현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79192"/>
            <a:ext cx="5486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679192"/>
            <a:ext cx="7955279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연락처 AES-256-GCM 암호화 저장 / 대시보드 복호화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209544"/>
            <a:ext cx="5486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09544"/>
            <a:ext cx="7955279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출입신청 화면 연락처 자동 하이픈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739896"/>
            <a:ext cx="5486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739896"/>
            <a:ext cx="7955279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담당자(wayne9044@inzent.com) 메일 자동 알림 (신청시각 포함)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270248"/>
            <a:ext cx="5486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270248"/>
            <a:ext cx="7955279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관리자: 비밀번호 변경 · 공지사항 · 설정 패널 · 사번 접근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800600"/>
            <a:ext cx="5486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00600"/>
            <a:ext cx="7955279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실행: http://localhost:9090/ (신청) · /admin (대시보드)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9AA6C4"/>
                </a:solidFill>
                <a:latin typeface="맑은 고딕"/>
              </a:rPr>
              <a:t>서버실 출입관리 시스템 —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